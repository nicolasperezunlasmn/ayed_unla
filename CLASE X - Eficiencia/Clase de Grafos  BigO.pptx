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6"/>
  </p:notesMasterIdLst>
  <p:sldIdLst>
    <p:sldId id="256" r:id="rId3"/>
    <p:sldId id="257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4" r:id="rId14"/>
    <p:sldId id="285" r:id="rId15"/>
  </p:sldIdLst>
  <p:sldSz cx="9144000" cy="6858000" type="screen4x3"/>
  <p:notesSz cx="6858000" cy="9144000"/>
  <p:embeddedFontLst>
    <p:embeddedFont>
      <p:font typeface="Constantia" panose="02030602050306030303" pitchFamily="18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gwgARjPC6QHRbbaRWQiZp0Tnw/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C8AB6F-7A11-4FA0-BFB5-5D343970D30B}">
  <a:tblStyle styleId="{C3C8AB6F-7A11-4FA0-BFB5-5D343970D30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46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4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402f13d0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" name="Google Shape;114;ga402f13d0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87d0b50373_4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3" name="Google Shape;353;g87d0b50373_4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a402f13d07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9" name="Google Shape;359;ga402f13d07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a402f13d07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5" name="Google Shape;365;ga402f13d07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862c81425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862c81425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a402f13d07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0" name="Google Shape;380;ga402f13d07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87d0b50373_4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7" name="Google Shape;387;g87d0b50373_4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87d0b50373_4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4" name="Google Shape;394;g87d0b50373_4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87d0b50373_4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0" name="Google Shape;400;g87d0b50373_4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a402f13d07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7" name="Google Shape;407;ga402f13d07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9d6271c2a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0" name="Google Shape;420;g9d6271c2a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4" name="Google Shape;44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6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5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5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8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sz="5600" b="1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8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4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4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9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49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0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0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0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0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0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5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0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3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sz="26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3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3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9751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marL="914400" lvl="1" indent="-368935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marL="1371600" lvl="2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marL="1828800" lvl="3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4"/>
          <p:cNvSpPr/>
          <p:nvPr/>
        </p:nvSpPr>
        <p:spPr>
          <a:xfrm rot="-10380000" flipH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5" name="Google Shape;85;p54"/>
          <p:cNvSpPr/>
          <p:nvPr/>
        </p:nvSpPr>
        <p:spPr>
          <a:xfrm rot="-10380000" flipH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6" name="Google Shape;86;p54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4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marL="914400" lvl="1" indent="-293369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730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marL="1828800" lvl="3" indent="-265747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marL="2286000" lvl="4" indent="-265747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4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91" name="Google Shape;91;p54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2" name="Google Shape;92;p54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3" name="Google Shape;93;p54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5"/>
          <p:cNvSpPr txBox="1">
            <a:spLocks noGrp="1"/>
          </p:cNvSpPr>
          <p:nvPr>
            <p:ph type="body" idx="1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5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5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6"/>
          <p:cNvSpPr txBox="1">
            <a:spLocks noGrp="1"/>
          </p:cNvSpPr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6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5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5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65000" sy="65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44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44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sz="5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1" name="Google Shape;11;p4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2" name="Google Shape;12;p4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grpSp>
        <p:nvGrpSpPr>
          <p:cNvPr id="13" name="Google Shape;13;p44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44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44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65000" sy="65000" flip="none" algn="tl"/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3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4" name="Google Shape;24;p43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" name="Google Shape;25;p4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grpSp>
        <p:nvGrpSpPr>
          <p:cNvPr id="30" name="Google Shape;30;p4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1" name="Google Shape;31;p4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2" name="Google Shape;32;p4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s-ES"/>
              <a:t>Teoría de Grafos</a:t>
            </a:r>
            <a:endParaRPr/>
          </a:p>
        </p:txBody>
      </p:sp>
      <p:sp>
        <p:nvSpPr>
          <p:cNvPr id="111" name="Google Shape;111;p1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 fontScale="92500" lnSpcReduction="20000"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r>
              <a:rPr lang="es-ES" sz="2405" dirty="0"/>
              <a:t>Algoritmos y Estructuras de Datos</a:t>
            </a:r>
            <a:endParaRPr dirty="0"/>
          </a:p>
          <a:p>
            <a:pPr marL="0" marR="0" lvl="0" indent="0" algn="r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2461"/>
              <a:buNone/>
            </a:pPr>
            <a:r>
              <a:rPr lang="es-ES" sz="2590" dirty="0"/>
              <a:t>UNLA</a:t>
            </a:r>
            <a:endParaRPr dirty="0"/>
          </a:p>
          <a:p>
            <a:pPr marL="0" marR="0" lvl="0" indent="0" algn="r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2461"/>
              <a:buNone/>
            </a:pPr>
            <a:r>
              <a:rPr lang="es-ES" sz="2590" dirty="0"/>
              <a:t>Nicolás Perez</a:t>
            </a:r>
          </a:p>
          <a:p>
            <a:pPr marL="0" marR="0" lvl="0" indent="0" algn="r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2461"/>
              <a:buNone/>
            </a:pPr>
            <a:r>
              <a:rPr lang="es-ES" dirty="0" err="1"/>
              <a:t>Vescio</a:t>
            </a:r>
            <a:r>
              <a:rPr lang="es-ES" dirty="0"/>
              <a:t> Javier</a:t>
            </a:r>
            <a:endParaRPr dirty="0"/>
          </a:p>
          <a:p>
            <a:pPr marL="0" marR="0" lvl="0" indent="0" algn="r" rtl="0">
              <a:lnSpc>
                <a:spcPct val="90000"/>
              </a:lnSpc>
              <a:spcBef>
                <a:spcPts val="518"/>
              </a:spcBef>
              <a:spcAft>
                <a:spcPts val="0"/>
              </a:spcAft>
              <a:buSzPts val="2461"/>
              <a:buNone/>
            </a:pPr>
            <a:r>
              <a:rPr lang="es-ES" sz="2590" dirty="0"/>
              <a:t>Diego Cañete</a:t>
            </a:r>
            <a:endParaRPr dirty="0"/>
          </a:p>
          <a:p>
            <a:pPr marL="0" marR="45720" lvl="0" indent="0" algn="r" rtl="0">
              <a:lnSpc>
                <a:spcPct val="90000"/>
              </a:lnSpc>
              <a:spcBef>
                <a:spcPts val="481"/>
              </a:spcBef>
              <a:spcAft>
                <a:spcPts val="0"/>
              </a:spcAft>
              <a:buSzPts val="2285"/>
              <a:buNone/>
            </a:pPr>
            <a:endParaRPr sz="240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a402f13d07_1_0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8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s-ES"/>
              <a:t>Contenido</a:t>
            </a:r>
            <a:endParaRPr/>
          </a:p>
        </p:txBody>
      </p:sp>
      <p:sp>
        <p:nvSpPr>
          <p:cNvPr id="117" name="Google Shape;117;ga402f13d07_1_0"/>
          <p:cNvSpPr txBox="1">
            <a:spLocks noGrp="1"/>
          </p:cNvSpPr>
          <p:nvPr>
            <p:ph type="subTitle" idx="1"/>
          </p:nvPr>
        </p:nvSpPr>
        <p:spPr>
          <a:xfrm>
            <a:off x="273650" y="2181000"/>
            <a:ext cx="81144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85"/>
              <a:buNone/>
            </a:pPr>
            <a:endParaRPr sz="2205" dirty="0"/>
          </a:p>
          <a:p>
            <a:pPr marL="457200" marR="0" lvl="0" indent="-37909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70"/>
              <a:buChar char="★"/>
            </a:pPr>
            <a:r>
              <a:rPr lang="es-ES" sz="2500" dirty="0"/>
              <a:t>Análisis de la complejidad algorítmica</a:t>
            </a:r>
            <a:endParaRPr sz="2500" dirty="0"/>
          </a:p>
          <a:p>
            <a:pPr marL="457200" marR="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★"/>
            </a:pPr>
            <a:r>
              <a:rPr lang="es-ES" sz="2500" dirty="0" err="1"/>
              <a:t>BigO</a:t>
            </a:r>
            <a:r>
              <a:rPr lang="es-ES" sz="2500" dirty="0"/>
              <a:t> </a:t>
            </a:r>
            <a:r>
              <a:rPr lang="es-ES" sz="2500" dirty="0" err="1"/>
              <a:t>notation</a:t>
            </a:r>
            <a:r>
              <a:rPr lang="es-ES" sz="2500" dirty="0"/>
              <a:t> &amp; ejercicios explicativos</a:t>
            </a:r>
            <a:endParaRPr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87d0b50373_4_349"/>
          <p:cNvSpPr txBox="1">
            <a:spLocks noGrp="1"/>
          </p:cNvSpPr>
          <p:nvPr>
            <p:ph type="title"/>
          </p:nvPr>
        </p:nvSpPr>
        <p:spPr>
          <a:xfrm>
            <a:off x="457200" y="704097"/>
            <a:ext cx="8229600" cy="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 sz="4000"/>
              <a:t>¿Qué es un algoritmo?</a:t>
            </a:r>
            <a:endParaRPr/>
          </a:p>
        </p:txBody>
      </p:sp>
      <p:sp>
        <p:nvSpPr>
          <p:cNvPr id="356" name="Google Shape;356;g87d0b50373_4_349"/>
          <p:cNvSpPr txBox="1">
            <a:spLocks noGrp="1"/>
          </p:cNvSpPr>
          <p:nvPr>
            <p:ph type="body" idx="1"/>
          </p:nvPr>
        </p:nvSpPr>
        <p:spPr>
          <a:xfrm>
            <a:off x="490375" y="1567199"/>
            <a:ext cx="8229600" cy="4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lang="es-ES" sz="1800"/>
              <a:t>Un algoritmo es un conjunto ordenado de instrucciones bien definidas, no-ambiguas y finitas que permite resolver un determinado problema computacional. </a:t>
            </a:r>
            <a:br>
              <a:rPr lang="es-ES" sz="1800"/>
            </a:br>
            <a:r>
              <a:rPr lang="es-ES" sz="1800"/>
              <a:t>Un corolario de esta definición no dice que, un determinado problema computacional puede ser resuelto por diversos (infinitos) algoritmos.</a:t>
            </a:r>
            <a:endParaRPr sz="1800"/>
          </a:p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lang="es-ES" sz="1800"/>
              <a:t>A partir de esto existen varios principios “importantes” para el buen diseño de algoritmos, como pueden ser:</a:t>
            </a:r>
            <a:endParaRPr sz="1800"/>
          </a:p>
          <a:p>
            <a:pPr marL="457200" lvl="0" indent="-34290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A86E8"/>
              </a:buClr>
              <a:buSzPts val="1800"/>
              <a:buChar char="❖"/>
            </a:pPr>
            <a:r>
              <a:rPr lang="es-ES" sz="1800"/>
              <a:t>Un buen diseñador de algoritmos debe negarse a estar satisfecho con su primera solución.</a:t>
            </a:r>
            <a:endParaRPr sz="1800"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❖"/>
            </a:pPr>
            <a:r>
              <a:rPr lang="es-ES" sz="1800"/>
              <a:t>El buen diseñador de algoritmos debería pensar en forma de mantra, se puede hacer mejor?</a:t>
            </a:r>
            <a:endParaRPr sz="1800"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❖"/>
            </a:pPr>
            <a:r>
              <a:rPr lang="es-ES" sz="1800"/>
              <a:t>La primer solución que se nos ocurre o la solución más obvia generalmente no es la mejor.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a402f13d07_1_13"/>
          <p:cNvSpPr txBox="1">
            <a:spLocks noGrp="1"/>
          </p:cNvSpPr>
          <p:nvPr>
            <p:ph type="title"/>
          </p:nvPr>
        </p:nvSpPr>
        <p:spPr>
          <a:xfrm>
            <a:off x="457200" y="704097"/>
            <a:ext cx="8229600" cy="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 sz="4000"/>
              <a:t>¿Mejor algoritmo o peor algoritmo?</a:t>
            </a:r>
            <a:endParaRPr/>
          </a:p>
        </p:txBody>
      </p:sp>
      <p:sp>
        <p:nvSpPr>
          <p:cNvPr id="362" name="Google Shape;362;ga402f13d07_1_13"/>
          <p:cNvSpPr txBox="1">
            <a:spLocks noGrp="1"/>
          </p:cNvSpPr>
          <p:nvPr>
            <p:ph type="body" idx="1"/>
          </p:nvPr>
        </p:nvSpPr>
        <p:spPr>
          <a:xfrm>
            <a:off x="490375" y="1567199"/>
            <a:ext cx="8229600" cy="4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¿Cómo podemos poner juicio de valor a un determinado algoritmo?</a:t>
            </a:r>
            <a:endParaRPr sz="1800"/>
          </a:p>
          <a:p>
            <a:pPr marL="457200" lvl="0" indent="-34290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A86E8"/>
              </a:buClr>
              <a:buSzPts val="1800"/>
              <a:buChar char="➔"/>
            </a:pPr>
            <a:r>
              <a:rPr lang="es-ES" sz="1800"/>
              <a:t>Necesitamos una escala de medición común.</a:t>
            </a:r>
            <a:endParaRPr sz="1800"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➔"/>
            </a:pPr>
            <a:r>
              <a:rPr lang="es-ES" sz="1800"/>
              <a:t>Mejor no puede ser que es más lindo, o que tiene más líneas de código o que está escrito en un lenguaje X o lenguaje Y.</a:t>
            </a:r>
            <a:endParaRPr sz="1800"/>
          </a:p>
          <a:p>
            <a:pPr marL="457200" lvl="0" indent="-3429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800"/>
              <a:buChar char="➔"/>
            </a:pPr>
            <a:r>
              <a:rPr lang="es-ES" sz="1800"/>
              <a:t>Se necesita definir con plena objetividad que significa mejor o peor, en el mundo de los algoritmos.</a:t>
            </a:r>
            <a:endParaRPr sz="1800"/>
          </a:p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Una forma lógica de hacer esto podría ser quizás  es medirlo por medio de las operaciones básicas que debe realizar ese algoritmo dada una entrada de tamaño </a:t>
            </a:r>
            <a:r>
              <a:rPr lang="es-ES" sz="1800" b="1" i="1"/>
              <a:t>n</a:t>
            </a:r>
            <a:r>
              <a:rPr lang="es-ES" sz="1800"/>
              <a:t>, digamos, no es lo mismo 1 registro que 10, 100, 1000 o millones. Podríamos decir que este parámetro </a:t>
            </a:r>
            <a:r>
              <a:rPr lang="es-ES" sz="1800" b="1" i="1"/>
              <a:t>n</a:t>
            </a:r>
            <a:r>
              <a:rPr lang="es-ES" sz="1800"/>
              <a:t> me podría decir que tan grande es mi problema, verdad?.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a402f13d07_1_18"/>
          <p:cNvSpPr txBox="1">
            <a:spLocks noGrp="1"/>
          </p:cNvSpPr>
          <p:nvPr>
            <p:ph type="title"/>
          </p:nvPr>
        </p:nvSpPr>
        <p:spPr>
          <a:xfrm>
            <a:off x="457200" y="704097"/>
            <a:ext cx="8229600" cy="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 sz="4000"/>
              <a:t>Ejemplo de Ordenamiento</a:t>
            </a:r>
            <a:endParaRPr/>
          </a:p>
        </p:txBody>
      </p:sp>
      <p:sp>
        <p:nvSpPr>
          <p:cNvPr id="368" name="Google Shape;368;ga402f13d07_1_18"/>
          <p:cNvSpPr txBox="1">
            <a:spLocks noGrp="1"/>
          </p:cNvSpPr>
          <p:nvPr>
            <p:ph type="body" idx="1"/>
          </p:nvPr>
        </p:nvSpPr>
        <p:spPr>
          <a:xfrm>
            <a:off x="490375" y="1567200"/>
            <a:ext cx="8229600" cy="12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¿Es lo mismo ordenar un arreglo de 100 elementos que uno de 1 millón?</a:t>
            </a:r>
            <a:endParaRPr sz="1800"/>
          </a:p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Entonces, ¿Cómo podríamos decir que un algoritmo es mejor o peor que otro?</a:t>
            </a:r>
            <a:endParaRPr sz="1800" b="1"/>
          </a:p>
        </p:txBody>
      </p:sp>
      <p:pic>
        <p:nvPicPr>
          <p:cNvPr id="369" name="Google Shape;369;ga402f13d07_1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7950" y="5214350"/>
            <a:ext cx="2752998" cy="8253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70" name="Google Shape;370;ga402f13d07_1_18"/>
          <p:cNvSpPr txBox="1">
            <a:spLocks noGrp="1"/>
          </p:cNvSpPr>
          <p:nvPr>
            <p:ph type="body" idx="1"/>
          </p:nvPr>
        </p:nvSpPr>
        <p:spPr>
          <a:xfrm>
            <a:off x="490375" y="4229250"/>
            <a:ext cx="8229600" cy="25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710"/>
              <a:buNone/>
            </a:pPr>
            <a:endParaRPr sz="1800"/>
          </a:p>
          <a:p>
            <a:pPr marL="4572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★"/>
            </a:pPr>
            <a:r>
              <a:rPr lang="es-ES" sz="1800" b="1"/>
              <a:t>Select Sort:</a:t>
            </a:r>
            <a:endParaRPr sz="1800" b="1"/>
          </a:p>
          <a:p>
            <a:pPr marL="45720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500" b="1"/>
          </a:p>
          <a:p>
            <a:pPr marL="457200" lvl="0" indent="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800" b="1"/>
              <a:t>n-1</a:t>
            </a:r>
            <a:r>
              <a:rPr lang="es-ES" sz="1800"/>
              <a:t>		1</a:t>
            </a:r>
            <a:br>
              <a:rPr lang="es-ES" sz="1800"/>
            </a:br>
            <a:r>
              <a:rPr lang="es-ES" sz="1800"/>
              <a:t>	n-2		2</a:t>
            </a:r>
            <a:br>
              <a:rPr lang="es-ES" sz="1800"/>
            </a:br>
            <a:r>
              <a:rPr lang="es-ES" sz="1800"/>
              <a:t>	n-3		3</a:t>
            </a:r>
            <a:br>
              <a:rPr lang="es-ES" sz="1800"/>
            </a:br>
            <a:r>
              <a:rPr lang="es-ES" sz="1800"/>
              <a:t>	… 		… </a:t>
            </a:r>
            <a:endParaRPr sz="1800"/>
          </a:p>
          <a:p>
            <a:pPr marL="457200" lvl="0" indent="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1   		</a:t>
            </a:r>
            <a:r>
              <a:rPr lang="es-ES" sz="1800" b="1"/>
              <a:t>n-1</a:t>
            </a:r>
            <a:endParaRPr sz="1800" b="1"/>
          </a:p>
        </p:txBody>
      </p:sp>
      <p:sp>
        <p:nvSpPr>
          <p:cNvPr id="371" name="Google Shape;371;ga402f13d07_1_18"/>
          <p:cNvSpPr txBox="1">
            <a:spLocks noGrp="1"/>
          </p:cNvSpPr>
          <p:nvPr>
            <p:ph type="body" idx="1"/>
          </p:nvPr>
        </p:nvSpPr>
        <p:spPr>
          <a:xfrm>
            <a:off x="559825" y="2529200"/>
            <a:ext cx="8229600" cy="22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4A86E8"/>
              </a:buClr>
              <a:buSzPts val="1800"/>
              <a:buChar char="❏"/>
            </a:pPr>
            <a:r>
              <a:rPr lang="es-ES" sz="1800" i="1"/>
              <a:t>“Podríamos decir que mi algoritmo es mejor si realiza menos operaciones básicas para ese mismo tamaño del problema.”</a:t>
            </a:r>
            <a:endParaRPr sz="1800" i="1"/>
          </a:p>
          <a:p>
            <a:pPr marL="0" lvl="0" indent="0" algn="just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Un ejemplo de todo esto es pensar en los algoritmos de ordenamiento, ¿cuántas comparaciones tiene que hacer el algoritmo “Select Sort” dado un arreglo </a:t>
            </a:r>
            <a:r>
              <a:rPr lang="es-ES" sz="1800" b="1" i="1"/>
              <a:t>n </a:t>
            </a:r>
            <a:r>
              <a:rPr lang="es-ES" sz="1800"/>
              <a:t>de números enteros diferentes?.</a:t>
            </a:r>
            <a:endParaRPr sz="1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862c814256_0_0"/>
          <p:cNvSpPr txBox="1">
            <a:spLocks noGrp="1"/>
          </p:cNvSpPr>
          <p:nvPr>
            <p:ph type="title"/>
          </p:nvPr>
        </p:nvSpPr>
        <p:spPr>
          <a:xfrm>
            <a:off x="457200" y="704100"/>
            <a:ext cx="82296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 sz="4000"/>
              <a:t>Orden de Complejidad del Select Sort</a:t>
            </a:r>
            <a:endParaRPr sz="4000"/>
          </a:p>
        </p:txBody>
      </p:sp>
      <p:sp>
        <p:nvSpPr>
          <p:cNvPr id="377" name="Google Shape;377;g862c814256_0_0"/>
          <p:cNvSpPr txBox="1">
            <a:spLocks noGrp="1"/>
          </p:cNvSpPr>
          <p:nvPr>
            <p:ph type="body" idx="1"/>
          </p:nvPr>
        </p:nvSpPr>
        <p:spPr>
          <a:xfrm>
            <a:off x="214650" y="1529400"/>
            <a:ext cx="8789700" cy="51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★"/>
            </a:pPr>
            <a:r>
              <a:rPr lang="es-ES" sz="1800"/>
              <a:t>¿Cuánto equivale la sumatoria de todos los números naturales de 1 hasta n? </a:t>
            </a:r>
            <a:r>
              <a:rPr lang="es-ES" sz="2000"/>
              <a:t> </a:t>
            </a:r>
            <a:endParaRPr sz="2000"/>
          </a:p>
          <a:p>
            <a:pPr marL="9144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s-ES" sz="2000"/>
              <a:t> 1							</a:t>
            </a:r>
            <a:endParaRPr sz="2000"/>
          </a:p>
          <a:p>
            <a:pPr marL="91440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4000"/>
              <a:t>Σ</a:t>
            </a:r>
            <a:r>
              <a:rPr lang="es-ES" sz="1800"/>
              <a:t> </a:t>
            </a:r>
            <a:r>
              <a:rPr lang="es-ES" sz="2000"/>
              <a:t>i    ==    n.(n+1)/2				</a:t>
            </a:r>
            <a:endParaRPr sz="2000"/>
          </a:p>
          <a:p>
            <a:pPr marL="91440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i=n							</a:t>
            </a:r>
            <a:endParaRPr sz="1800"/>
          </a:p>
          <a:p>
            <a:pPr marL="91440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800"/>
          </a:p>
          <a:p>
            <a:pPr marL="9144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s-ES" sz="1800"/>
              <a:t>Ejemplo de dónde es que sale esto?, sumemos los números del 1 al 100.</a:t>
            </a:r>
            <a:endParaRPr sz="1800"/>
          </a:p>
          <a:p>
            <a:pPr marL="137160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800"/>
          </a:p>
          <a:p>
            <a:pPr marL="1371600" lvl="2" indent="-34290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■"/>
            </a:pPr>
            <a:r>
              <a:rPr lang="es-ES" sz="1800"/>
              <a:t>La sumatoria de 1 hasta 100 es igual a (n/2).(n+1) =&gt; (50).(101)</a:t>
            </a:r>
            <a:endParaRPr sz="1800"/>
          </a:p>
          <a:p>
            <a:pPr marL="91440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800"/>
          </a:p>
          <a:p>
            <a:pPr marL="91440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800"/>
          </a:p>
          <a:p>
            <a:pPr marL="457200" lvl="0" indent="-330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Char char="★"/>
            </a:pPr>
            <a:r>
              <a:rPr lang="es-ES" sz="1800"/>
              <a:t>Tomando esto: ¿Qué diferencias existen con el Select Sort? ¿y Cuántas comparaciones hace?</a:t>
            </a:r>
            <a:endParaRPr sz="1800"/>
          </a:p>
          <a:p>
            <a:pPr marL="9144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s-ES" sz="1800"/>
              <a:t>¿No era que el Select Sort iba hasta n-1?</a:t>
            </a:r>
            <a:endParaRPr sz="1800"/>
          </a:p>
          <a:p>
            <a:pPr marL="9144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s-ES" sz="2000"/>
              <a:t>  1											   	</a:t>
            </a:r>
            <a:r>
              <a:rPr lang="es-ES" sz="1400" b="1" i="1"/>
              <a:t>+operaciones == +malo</a:t>
            </a:r>
            <a:endParaRPr sz="1400" b="1" i="1"/>
          </a:p>
          <a:p>
            <a:pPr marL="457200" lvl="0" indent="45720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4000"/>
              <a:t>Σ</a:t>
            </a:r>
            <a:r>
              <a:rPr lang="es-ES" sz="1800"/>
              <a:t> </a:t>
            </a:r>
            <a:r>
              <a:rPr lang="es-ES" sz="2000"/>
              <a:t>i     ==    ((n-1)/2).((n-1)+1)  ==  </a:t>
            </a:r>
            <a:r>
              <a:rPr lang="es-ES" sz="2000" b="1"/>
              <a:t>n.(n-1)/2	</a:t>
            </a:r>
            <a:r>
              <a:rPr lang="es-ES" sz="2000"/>
              <a:t> </a:t>
            </a:r>
            <a:r>
              <a:rPr lang="es-ES" sz="4000"/>
              <a:t>}</a:t>
            </a:r>
            <a:endParaRPr sz="2000" b="1" i="1"/>
          </a:p>
          <a:p>
            <a:pPr marL="45720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       i=(n-1)											</a:t>
            </a:r>
            <a:r>
              <a:rPr lang="es-ES" sz="1400" b="1" i="1"/>
              <a:t>-operaciones == +bueno</a:t>
            </a:r>
            <a:br>
              <a:rPr lang="es-ES" sz="1800"/>
            </a:br>
            <a:endParaRPr sz="1800"/>
          </a:p>
          <a:p>
            <a:pPr marL="0" lvl="0" indent="0" algn="just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¿Pero el select sort no debería hacer otras operaciones además de comparar?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7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a402f13d07_1_8"/>
          <p:cNvSpPr txBox="1">
            <a:spLocks noGrp="1"/>
          </p:cNvSpPr>
          <p:nvPr>
            <p:ph type="title"/>
          </p:nvPr>
        </p:nvSpPr>
        <p:spPr>
          <a:xfrm>
            <a:off x="457200" y="704097"/>
            <a:ext cx="8229600" cy="8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 sz="4000"/>
              <a:t>Orden de Complejidad del  Select Sort</a:t>
            </a:r>
            <a:endParaRPr/>
          </a:p>
        </p:txBody>
      </p:sp>
      <p:sp>
        <p:nvSpPr>
          <p:cNvPr id="383" name="Google Shape;383;ga402f13d07_1_8"/>
          <p:cNvSpPr txBox="1">
            <a:spLocks noGrp="1"/>
          </p:cNvSpPr>
          <p:nvPr>
            <p:ph type="body" idx="1"/>
          </p:nvPr>
        </p:nvSpPr>
        <p:spPr>
          <a:xfrm>
            <a:off x="490375" y="1567199"/>
            <a:ext cx="8229600" cy="49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Char char="★"/>
            </a:pPr>
            <a:r>
              <a:rPr lang="es-ES" sz="1800"/>
              <a:t>Entonces, tenemos claro que para considerar que un algoritmo es bueno, es a partir de la cantidad de operaciones básicas pero, ¿Qué considero que son las operaciones? asignaciones? comparaciones? todo esto? </a:t>
            </a:r>
            <a:endParaRPr sz="1800"/>
          </a:p>
          <a:p>
            <a:pPr marL="45720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800"/>
          </a:p>
          <a:p>
            <a:pPr marL="457200" lvl="0" indent="-330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Char char="★"/>
            </a:pPr>
            <a:r>
              <a:rPr lang="es-ES" sz="1800"/>
              <a:t>En términos prácticos para estandarizar y dejar fuera subjetividades:</a:t>
            </a:r>
            <a:endParaRPr sz="1800"/>
          </a:p>
          <a:p>
            <a:pPr marL="914400" lvl="1" indent="-330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Char char="○"/>
            </a:pPr>
            <a:r>
              <a:rPr lang="es-ES" sz="1800"/>
              <a:t>Considerar el </a:t>
            </a:r>
            <a:r>
              <a:rPr lang="es-ES" sz="1800" b="1" i="1"/>
              <a:t>peor escenario (</a:t>
            </a:r>
            <a:r>
              <a:rPr lang="es-ES" sz="1800" i="1"/>
              <a:t>array completamente desordenado</a:t>
            </a:r>
            <a:r>
              <a:rPr lang="es-ES" sz="1800" b="1" i="1"/>
              <a:t>)</a:t>
            </a:r>
            <a:endParaRPr sz="1800"/>
          </a:p>
          <a:p>
            <a:pPr marL="914400" lvl="1" indent="-330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Char char="○"/>
            </a:pPr>
            <a:r>
              <a:rPr lang="es-ES" sz="1800"/>
              <a:t>Enfocarse solamente en </a:t>
            </a:r>
            <a:r>
              <a:rPr lang="es-ES" sz="1800" b="1" i="1"/>
              <a:t>valores grandes de n</a:t>
            </a:r>
            <a:endParaRPr sz="1800" b="1" i="1"/>
          </a:p>
          <a:p>
            <a:pPr marL="9144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○"/>
            </a:pPr>
            <a:r>
              <a:rPr lang="es-ES" sz="1800"/>
              <a:t>Olvidarse de los </a:t>
            </a:r>
            <a:r>
              <a:rPr lang="es-ES" sz="1800" b="1" i="1"/>
              <a:t>valores constantes</a:t>
            </a:r>
            <a:r>
              <a:rPr lang="es-ES" sz="1800"/>
              <a:t> y de </a:t>
            </a:r>
            <a:r>
              <a:rPr lang="es-ES" sz="1800" b="1" i="1"/>
              <a:t>orden menor, </a:t>
            </a:r>
            <a:endParaRPr sz="1800" b="1" i="1"/>
          </a:p>
          <a:p>
            <a:pPr marL="1371600" lvl="2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Char char="■"/>
            </a:pPr>
            <a:r>
              <a:rPr lang="es-ES" sz="1800"/>
              <a:t>¿Qué significa esto?:</a:t>
            </a:r>
            <a:endParaRPr sz="1800"/>
          </a:p>
          <a:p>
            <a:pPr marL="914400" lvl="0" indent="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n.(n-1)/2  = </a:t>
            </a:r>
            <a:endParaRPr sz="1800"/>
          </a:p>
          <a:p>
            <a:pPr marL="457200" lvl="0" indent="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800"/>
          </a:p>
          <a:p>
            <a:pPr marL="914400" lvl="0" indent="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((n^2)/2) - (n/2) =  </a:t>
            </a:r>
            <a:endParaRPr sz="1800"/>
          </a:p>
          <a:p>
            <a:pPr marL="457200" lvl="0" indent="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800"/>
          </a:p>
          <a:p>
            <a:pPr marL="914400" lvl="0" indent="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800"/>
              <a:t>(</a:t>
            </a:r>
            <a:r>
              <a:rPr lang="es-ES" sz="1800" u="sng">
                <a:solidFill>
                  <a:srgbClr val="FF0000"/>
                </a:solidFill>
              </a:rPr>
              <a:t>(½)</a:t>
            </a:r>
            <a:r>
              <a:rPr lang="es-ES" sz="1800"/>
              <a:t>(n^2)) </a:t>
            </a:r>
            <a:r>
              <a:rPr lang="es-ES" sz="1800" u="sng">
                <a:solidFill>
                  <a:srgbClr val="FF0000"/>
                </a:solidFill>
              </a:rPr>
              <a:t>- (n/2)</a:t>
            </a:r>
            <a:r>
              <a:rPr lang="es-ES" sz="1800"/>
              <a:t>  ==&gt; </a:t>
            </a:r>
            <a:r>
              <a:rPr lang="es-ES" sz="1800" b="1"/>
              <a:t>O(n^2)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4" name="Google Shape;384;ga402f13d07_1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18750" y="4234775"/>
            <a:ext cx="3601226" cy="22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87d0b50373_4_5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 sz="4000"/>
              <a:t>Analizando el “Grado de Complejidad”</a:t>
            </a:r>
            <a:endParaRPr sz="4000"/>
          </a:p>
        </p:txBody>
      </p:sp>
      <p:sp>
        <p:nvSpPr>
          <p:cNvPr id="390" name="Google Shape;390;g87d0b50373_4_51"/>
          <p:cNvSpPr txBox="1">
            <a:spLocks noGrp="1"/>
          </p:cNvSpPr>
          <p:nvPr>
            <p:ph type="body" idx="1"/>
          </p:nvPr>
        </p:nvSpPr>
        <p:spPr>
          <a:xfrm>
            <a:off x="457200" y="1935475"/>
            <a:ext cx="8404800" cy="47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600"/>
              <a:buChar char="❖"/>
            </a:pPr>
            <a:r>
              <a:rPr lang="es-ES" sz="1600"/>
              <a:t>Los distintos tipos de Algoritmos dependen de las </a:t>
            </a:r>
            <a:r>
              <a:rPr lang="es-ES" sz="1600" b="1" i="1"/>
              <a:t>Cantidades de datos</a:t>
            </a:r>
            <a:r>
              <a:rPr lang="es-ES" sz="1600"/>
              <a:t> que van a manejar. Por ende, esta anotación no es un predictor de tiempo de ejecución, la notación nos dice que si aumentamos el tamaño del problema en una cantidad </a:t>
            </a:r>
            <a:r>
              <a:rPr lang="es-ES" sz="1600" b="1" i="1"/>
              <a:t>n, </a:t>
            </a:r>
            <a:r>
              <a:rPr lang="es-ES" sz="1600"/>
              <a:t>el tiempo que se va a demorar va  a ser </a:t>
            </a:r>
            <a:r>
              <a:rPr lang="es-ES" sz="1600" b="1" i="1"/>
              <a:t>n cuadrado (</a:t>
            </a:r>
            <a:r>
              <a:rPr lang="es-ES" sz="1600" i="1"/>
              <a:t>para el caso puntual del Select Sort</a:t>
            </a:r>
            <a:r>
              <a:rPr lang="es-ES" sz="1600" b="1" i="1"/>
              <a:t>)</a:t>
            </a:r>
            <a:r>
              <a:rPr lang="es-ES" sz="1600"/>
              <a:t> </a:t>
            </a:r>
            <a:endParaRPr sz="1600"/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600"/>
          </a:p>
          <a:p>
            <a:pPr marL="457200" lvl="0" indent="-330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600"/>
              <a:buChar char="❖"/>
            </a:pPr>
            <a:r>
              <a:rPr lang="es-ES" sz="1600"/>
              <a:t>El </a:t>
            </a:r>
            <a:r>
              <a:rPr lang="es-ES" sz="1600" b="1" i="1"/>
              <a:t>hardware no define al algoritmo</a:t>
            </a:r>
            <a:r>
              <a:rPr lang="es-ES" sz="1600"/>
              <a:t>, no nos  interesa el tiempo “real” de cómputo, sino el crecimiento asintótico que va a tomar el problema dependiendo de la cantidad de datos</a:t>
            </a:r>
            <a:endParaRPr sz="1600"/>
          </a:p>
          <a:p>
            <a:pPr marL="45720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600"/>
          </a:p>
          <a:p>
            <a:pPr marL="457200" lvl="0" indent="-330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600"/>
              <a:buChar char="❖"/>
            </a:pPr>
            <a:r>
              <a:rPr lang="es-ES" sz="1600"/>
              <a:t>Para esto fue sumamente necesario </a:t>
            </a:r>
            <a:r>
              <a:rPr lang="es-ES" sz="1600" b="1" i="1"/>
              <a:t>definir una</a:t>
            </a:r>
            <a:endParaRPr sz="1600" b="1" i="1"/>
          </a:p>
          <a:p>
            <a:pPr marL="45720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600" b="1" i="1"/>
              <a:t>nomenclatura</a:t>
            </a:r>
            <a:r>
              <a:rPr lang="es-ES" sz="1600"/>
              <a:t>, una simbología a través de la </a:t>
            </a:r>
            <a:endParaRPr sz="1600"/>
          </a:p>
          <a:p>
            <a:pPr marL="45720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600"/>
              <a:t>cual podamos hablar de la complejidad de un </a:t>
            </a:r>
            <a:endParaRPr sz="1600"/>
          </a:p>
          <a:p>
            <a:pPr marL="45720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r>
              <a:rPr lang="es-ES" sz="1600"/>
              <a:t>algoritmo (</a:t>
            </a:r>
            <a:r>
              <a:rPr lang="es-ES" sz="1600" b="1"/>
              <a:t>BigO Notation)</a:t>
            </a:r>
            <a:endParaRPr sz="1600"/>
          </a:p>
          <a:p>
            <a:pPr marL="45720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10"/>
              <a:buNone/>
            </a:pPr>
            <a:endParaRPr sz="1600"/>
          </a:p>
          <a:p>
            <a:pPr marL="457200" lvl="0" indent="-330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600"/>
              <a:buChar char="❖"/>
            </a:pPr>
            <a:r>
              <a:rPr lang="es-ES" sz="1600"/>
              <a:t>Decimos entonces que un algoritmo es mejor que</a:t>
            </a:r>
            <a:br>
              <a:rPr lang="es-ES" sz="1600"/>
            </a:br>
            <a:r>
              <a:rPr lang="es-ES" sz="1600"/>
              <a:t>otro (</a:t>
            </a:r>
            <a:r>
              <a:rPr lang="es-ES" sz="1600" b="1" i="1"/>
              <a:t>más eficiente</a:t>
            </a:r>
            <a:r>
              <a:rPr lang="es-ES" sz="1600"/>
              <a:t>) si su “</a:t>
            </a:r>
            <a:r>
              <a:rPr lang="es-ES" sz="1600" b="1" i="1"/>
              <a:t>O</a:t>
            </a:r>
            <a:r>
              <a:rPr lang="es-ES" sz="1600"/>
              <a:t>” es menor. Ya que el tiempo de ejecución, considerando el peor escenario, crece más lentamente a medida que aumenta el tamaño de la entrada.</a:t>
            </a:r>
            <a:endParaRPr sz="1600"/>
          </a:p>
        </p:txBody>
      </p:sp>
      <p:pic>
        <p:nvPicPr>
          <p:cNvPr id="391" name="Google Shape;391;g87d0b50373_4_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0575" y="3890896"/>
            <a:ext cx="3391424" cy="204015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87d0b50373_4_8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 sz="4000"/>
              <a:t>Orden de Complejidad</a:t>
            </a:r>
            <a:endParaRPr sz="4000"/>
          </a:p>
        </p:txBody>
      </p:sp>
      <p:sp>
        <p:nvSpPr>
          <p:cNvPr id="397" name="Google Shape;397;g87d0b50373_4_81"/>
          <p:cNvSpPr txBox="1">
            <a:spLocks noGrp="1"/>
          </p:cNvSpPr>
          <p:nvPr>
            <p:ph type="body" idx="1"/>
          </p:nvPr>
        </p:nvSpPr>
        <p:spPr>
          <a:xfrm>
            <a:off x="214650" y="1935475"/>
            <a:ext cx="8789700" cy="47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710"/>
              <a:buNone/>
            </a:pPr>
            <a:r>
              <a:rPr lang="es-ES" sz="2000"/>
              <a:t>La mejor técnica para diferenciar la eficiencia de los algoritmos es el estudio de los “</a:t>
            </a:r>
            <a:r>
              <a:rPr lang="es-ES" sz="2000" b="1"/>
              <a:t>Órdenes de Complejidad”</a:t>
            </a:r>
            <a:r>
              <a:rPr lang="es-ES" sz="2000"/>
              <a:t>. El orden de complejidad se expresa, generalmente, en términos de la cantidad de datos procesados por el programa, denominado </a:t>
            </a:r>
            <a:r>
              <a:rPr lang="es-ES" sz="2000" b="1" i="1"/>
              <a:t>n</a:t>
            </a:r>
            <a:r>
              <a:rPr lang="es-ES" sz="2000"/>
              <a:t>, que puede ser el tamaño dado o estimado.</a:t>
            </a:r>
            <a:endParaRPr sz="2000"/>
          </a:p>
          <a:p>
            <a:pPr marL="0" lvl="1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endParaRPr sz="1800" b="1"/>
          </a:p>
          <a:p>
            <a:pPr marL="0" lvl="1" indent="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530"/>
              <a:buNone/>
            </a:pPr>
            <a:r>
              <a:rPr lang="es-ES" sz="1800" b="1"/>
              <a:t>Notación asintótica:</a:t>
            </a:r>
            <a:r>
              <a:rPr lang="es-ES" sz="1800"/>
              <a:t> analiza el comportamiento de las funciones en el </a:t>
            </a:r>
            <a:r>
              <a:rPr lang="es-ES" sz="1800" b="1" i="1"/>
              <a:t>límite</a:t>
            </a:r>
            <a:r>
              <a:rPr lang="es-ES" sz="1800"/>
              <a:t>, es decir, en su tasa de crecimiento e indica como se comporta el algoritmo para datos muy grande, captura el comportamiento de la función para valores grandes de </a:t>
            </a:r>
            <a:r>
              <a:rPr lang="es-ES" sz="1800" b="1" i="1"/>
              <a:t>n</a:t>
            </a:r>
            <a:r>
              <a:rPr lang="es-ES" sz="1800"/>
              <a:t>. </a:t>
            </a:r>
            <a:endParaRPr sz="1800"/>
          </a:p>
          <a:p>
            <a:pPr marL="914400" lvl="0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800"/>
              <a:buChar char="⚫"/>
            </a:pPr>
            <a:r>
              <a:rPr lang="es-ES" sz="1800"/>
              <a:t>Agrupa las funciones que definen su coste en diferentes conjuntos:</a:t>
            </a:r>
            <a:endParaRPr sz="1800"/>
          </a:p>
          <a:p>
            <a:pPr marL="18288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⚫"/>
            </a:pPr>
            <a:r>
              <a:rPr lang="es-ES" sz="1800"/>
              <a:t>O-Grande o Cotas Superiores</a:t>
            </a:r>
            <a:endParaRPr sz="1800"/>
          </a:p>
          <a:p>
            <a:pPr marL="18288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⚫"/>
            </a:pPr>
            <a:r>
              <a:rPr lang="es-ES" sz="1800"/>
              <a:t>Ω-Grande o Cotas Inferiores</a:t>
            </a:r>
            <a:endParaRPr sz="1800"/>
          </a:p>
          <a:p>
            <a:pPr marL="18288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⚫"/>
            </a:pPr>
            <a:r>
              <a:rPr lang="es-ES" sz="1800"/>
              <a:t>Θ-Grande o Cotas Entre Superior e Inferior</a:t>
            </a:r>
            <a:endParaRPr sz="1800"/>
          </a:p>
          <a:p>
            <a:pPr marL="18288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⚫"/>
            </a:pPr>
            <a:r>
              <a:rPr lang="es-ES" sz="1800"/>
              <a:t>0-pequeña o Cotas estrictamente Superiores</a:t>
            </a:r>
            <a:endParaRPr sz="1800"/>
          </a:p>
          <a:p>
            <a:pPr marL="1828800" lvl="1" indent="-3429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Char char="⚫"/>
            </a:pPr>
            <a:r>
              <a:rPr lang="es-ES" sz="1800"/>
              <a:t>ω-pequeña o Cotas estrictamente Inferiores</a:t>
            </a:r>
            <a:endParaRPr sz="1800"/>
          </a:p>
          <a:p>
            <a:pPr marL="0" lvl="1" indent="45720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87d0b50373_4_374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/>
              <a:t>BigO Notation</a:t>
            </a:r>
            <a:endParaRPr/>
          </a:p>
        </p:txBody>
      </p:sp>
      <p:sp>
        <p:nvSpPr>
          <p:cNvPr id="403" name="Google Shape;403;g87d0b50373_4_374"/>
          <p:cNvSpPr txBox="1">
            <a:spLocks noGrp="1"/>
          </p:cNvSpPr>
          <p:nvPr>
            <p:ph type="body" idx="1"/>
          </p:nvPr>
        </p:nvSpPr>
        <p:spPr>
          <a:xfrm>
            <a:off x="214650" y="1935475"/>
            <a:ext cx="8607300" cy="47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/>
              <a:t>O(1) 		-&gt; Orden Constante</a:t>
            </a:r>
            <a:endParaRPr sz="1400" b="1" i="1"/>
          </a:p>
          <a:p>
            <a:pPr marL="0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/>
              <a:t>   	O(log n) 	-&gt; Orden Logarítmico</a:t>
            </a: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/>
              <a:t>O(n) 		-&gt; Orden Lineal</a:t>
            </a: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/>
              <a:t>O(n log n)	-&gt; Orden casi Lineal</a:t>
            </a: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/>
              <a:t>O(n^2)	-&gt; Orden Cuadrático</a:t>
            </a: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/>
              <a:t>O(2^n)	-&gt; Orden Polinomial</a:t>
            </a: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/>
              <a:t>O(a^n)	-&gt; Orden Exponencial</a:t>
            </a:r>
            <a:endParaRPr sz="1400" b="1" i="1"/>
          </a:p>
          <a:p>
            <a:pPr marL="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/>
              <a:t>O(n!)		-&gt; Orden  Factorial</a:t>
            </a:r>
            <a:br>
              <a:rPr lang="es-ES" sz="1400" b="1" i="1"/>
            </a:br>
            <a:br>
              <a:rPr lang="es-ES" sz="1400" b="1" i="1"/>
            </a:br>
            <a:r>
              <a:rPr lang="es-ES" sz="1400" b="1" i="1"/>
              <a:t>	</a:t>
            </a:r>
            <a:endParaRPr sz="1400" b="1" i="1"/>
          </a:p>
          <a:p>
            <a:pPr marL="614045" lvl="0" indent="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/>
              <a:t>		</a:t>
            </a:r>
            <a:r>
              <a:rPr lang="es-ES" sz="1300" b="1" i="1"/>
              <a:t>*(para todo a &gt; 2)</a:t>
            </a:r>
            <a:endParaRPr sz="1300" b="1" i="1"/>
          </a:p>
          <a:p>
            <a:pPr marL="4114800" lvl="0" indent="45720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s-ES" sz="1400" b="1" i="1">
                <a:solidFill>
                  <a:srgbClr val="3C78D8"/>
                </a:solidFill>
              </a:rPr>
              <a:t>https://www.bigocheatsheet.com/</a:t>
            </a:r>
            <a:endParaRPr sz="1400" b="1" i="1">
              <a:solidFill>
                <a:srgbClr val="3C78D8"/>
              </a:solidFill>
            </a:endParaRPr>
          </a:p>
        </p:txBody>
      </p:sp>
      <p:pic>
        <p:nvPicPr>
          <p:cNvPr id="404" name="Google Shape;404;g87d0b50373_4_3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6000" y="2657950"/>
            <a:ext cx="5215950" cy="33379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a402f13d07_1_26"/>
          <p:cNvSpPr txBox="1">
            <a:spLocks noGrp="1"/>
          </p:cNvSpPr>
          <p:nvPr>
            <p:ph type="title"/>
          </p:nvPr>
        </p:nvSpPr>
        <p:spPr>
          <a:xfrm>
            <a:off x="457200" y="704097"/>
            <a:ext cx="8229600" cy="8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 sz="4000"/>
              <a:t>Ejercicios</a:t>
            </a:r>
            <a:endParaRPr sz="4000"/>
          </a:p>
        </p:txBody>
      </p:sp>
      <p:sp>
        <p:nvSpPr>
          <p:cNvPr id="410" name="Google Shape;410;ga402f13d07_1_26"/>
          <p:cNvSpPr txBox="1">
            <a:spLocks noGrp="1"/>
          </p:cNvSpPr>
          <p:nvPr>
            <p:ph type="body" idx="1"/>
          </p:nvPr>
        </p:nvSpPr>
        <p:spPr>
          <a:xfrm>
            <a:off x="457200" y="2728650"/>
            <a:ext cx="41148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>
                <a:latin typeface="Courier New"/>
                <a:ea typeface="Courier New"/>
                <a:cs typeface="Courier New"/>
                <a:sym typeface="Courier New"/>
              </a:rPr>
              <a:t>¿Cuál es la eficiencia del Bubble Sort en términos de la Notación Big-O?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411" name="Google Shape;411;ga402f13d07_1_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29094" y="990600"/>
            <a:ext cx="3757708" cy="574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9d6271c2a9_0_0"/>
          <p:cNvSpPr txBox="1">
            <a:spLocks noGrp="1"/>
          </p:cNvSpPr>
          <p:nvPr>
            <p:ph type="title"/>
          </p:nvPr>
        </p:nvSpPr>
        <p:spPr>
          <a:xfrm>
            <a:off x="457200" y="704097"/>
            <a:ext cx="8229600" cy="8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s-ES" sz="4000"/>
              <a:t>Ejercicios</a:t>
            </a:r>
            <a:endParaRPr sz="4000"/>
          </a:p>
        </p:txBody>
      </p:sp>
      <p:sp>
        <p:nvSpPr>
          <p:cNvPr id="423" name="Google Shape;423;g9d6271c2a9_0_0"/>
          <p:cNvSpPr txBox="1">
            <a:spLocks noGrp="1"/>
          </p:cNvSpPr>
          <p:nvPr>
            <p:ph type="body" idx="1"/>
          </p:nvPr>
        </p:nvSpPr>
        <p:spPr>
          <a:xfrm>
            <a:off x="609600" y="5770850"/>
            <a:ext cx="4271700" cy="8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21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Font typeface="Courier New"/>
              <a:buChar char="⚫"/>
            </a:pPr>
            <a:r>
              <a:rPr lang="es-ES" sz="10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fibonacciA </a:t>
            </a:r>
            <a:r>
              <a:rPr lang="es-ES" sz="1200" b="1">
                <a:latin typeface="Courier New"/>
                <a:ea typeface="Courier New"/>
                <a:cs typeface="Courier New"/>
                <a:sym typeface="Courier New"/>
              </a:rPr>
              <a:t>:: &gt;&gt;</a:t>
            </a: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200" b="1"/>
              <a:t>O(2^n)</a:t>
            </a:r>
            <a:br>
              <a:rPr lang="es-ES" sz="1200" b="1"/>
            </a:b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/>
              <a:buChar char="⚫"/>
            </a:pPr>
            <a:r>
              <a:rPr lang="es-ES" sz="1000" b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fibonacciB </a:t>
            </a:r>
            <a:r>
              <a:rPr lang="es-ES" sz="1200" b="1">
                <a:latin typeface="Courier New"/>
                <a:ea typeface="Courier New"/>
                <a:cs typeface="Courier New"/>
                <a:sym typeface="Courier New"/>
              </a:rPr>
              <a:t>:: &gt;&gt;</a:t>
            </a:r>
            <a:r>
              <a:rPr lang="es-ES" sz="12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s-ES" sz="1200" b="1"/>
              <a:t>O(n)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4" name="Google Shape;424;g9d6271c2a9_0_0"/>
          <p:cNvSpPr/>
          <p:nvPr/>
        </p:nvSpPr>
        <p:spPr>
          <a:xfrm>
            <a:off x="4468950" y="4454572"/>
            <a:ext cx="453000" cy="4329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9d6271c2a9_0_0"/>
          <p:cNvSpPr/>
          <p:nvPr/>
        </p:nvSpPr>
        <p:spPr>
          <a:xfrm>
            <a:off x="6093775" y="4454583"/>
            <a:ext cx="453000" cy="4329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9d6271c2a9_0_0"/>
          <p:cNvSpPr/>
          <p:nvPr/>
        </p:nvSpPr>
        <p:spPr>
          <a:xfrm>
            <a:off x="8523770" y="4454566"/>
            <a:ext cx="453000" cy="4329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9d6271c2a9_0_0"/>
          <p:cNvSpPr/>
          <p:nvPr/>
        </p:nvSpPr>
        <p:spPr>
          <a:xfrm>
            <a:off x="6480575" y="2873272"/>
            <a:ext cx="453000" cy="4329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9d6271c2a9_0_0"/>
          <p:cNvSpPr/>
          <p:nvPr/>
        </p:nvSpPr>
        <p:spPr>
          <a:xfrm>
            <a:off x="5213325" y="3557758"/>
            <a:ext cx="453000" cy="4329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9" name="Google Shape;429;g9d6271c2a9_0_0"/>
          <p:cNvCxnSpPr>
            <a:stCxn id="428" idx="0"/>
            <a:endCxn id="427" idx="3"/>
          </p:cNvCxnSpPr>
          <p:nvPr/>
        </p:nvCxnSpPr>
        <p:spPr>
          <a:xfrm rot="10800000" flipH="1">
            <a:off x="5439825" y="3242758"/>
            <a:ext cx="1107000" cy="3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0" name="Google Shape;430;g9d6271c2a9_0_0"/>
          <p:cNvSpPr/>
          <p:nvPr/>
        </p:nvSpPr>
        <p:spPr>
          <a:xfrm>
            <a:off x="7697408" y="3557747"/>
            <a:ext cx="453000" cy="4329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g9d6271c2a9_0_0"/>
          <p:cNvSpPr/>
          <p:nvPr/>
        </p:nvSpPr>
        <p:spPr>
          <a:xfrm>
            <a:off x="6933570" y="4454566"/>
            <a:ext cx="453000" cy="4329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g9d6271c2a9_0_0"/>
          <p:cNvCxnSpPr>
            <a:stCxn id="431" idx="0"/>
            <a:endCxn id="430" idx="3"/>
          </p:cNvCxnSpPr>
          <p:nvPr/>
        </p:nvCxnSpPr>
        <p:spPr>
          <a:xfrm rot="10800000" flipH="1">
            <a:off x="7160070" y="3927166"/>
            <a:ext cx="603600" cy="52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" name="Google Shape;433;g9d6271c2a9_0_0"/>
          <p:cNvCxnSpPr>
            <a:stCxn id="427" idx="5"/>
            <a:endCxn id="430" idx="0"/>
          </p:cNvCxnSpPr>
          <p:nvPr/>
        </p:nvCxnSpPr>
        <p:spPr>
          <a:xfrm>
            <a:off x="6867235" y="3242775"/>
            <a:ext cx="1056600" cy="3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4" name="Google Shape;434;g9d6271c2a9_0_0"/>
          <p:cNvCxnSpPr>
            <a:stCxn id="426" idx="0"/>
            <a:endCxn id="430" idx="5"/>
          </p:cNvCxnSpPr>
          <p:nvPr/>
        </p:nvCxnSpPr>
        <p:spPr>
          <a:xfrm rot="10800000">
            <a:off x="8083970" y="3927166"/>
            <a:ext cx="666300" cy="52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5" name="Google Shape;435;g9d6271c2a9_0_0"/>
          <p:cNvCxnSpPr>
            <a:stCxn id="428" idx="3"/>
            <a:endCxn id="424" idx="0"/>
          </p:cNvCxnSpPr>
          <p:nvPr/>
        </p:nvCxnSpPr>
        <p:spPr>
          <a:xfrm flipH="1">
            <a:off x="4695565" y="3927261"/>
            <a:ext cx="584100" cy="52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6" name="Google Shape;436;g9d6271c2a9_0_0"/>
          <p:cNvCxnSpPr>
            <a:stCxn id="428" idx="5"/>
            <a:endCxn id="425" idx="0"/>
          </p:cNvCxnSpPr>
          <p:nvPr/>
        </p:nvCxnSpPr>
        <p:spPr>
          <a:xfrm>
            <a:off x="5599985" y="3927261"/>
            <a:ext cx="720300" cy="52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7" name="Google Shape;437;g9d6271c2a9_0_0"/>
          <p:cNvSpPr/>
          <p:nvPr/>
        </p:nvSpPr>
        <p:spPr>
          <a:xfrm>
            <a:off x="5439825" y="5658933"/>
            <a:ext cx="453000" cy="4329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9d6271c2a9_0_0"/>
          <p:cNvSpPr/>
          <p:nvPr/>
        </p:nvSpPr>
        <p:spPr>
          <a:xfrm>
            <a:off x="6707075" y="5658933"/>
            <a:ext cx="453000" cy="432900"/>
          </a:xfrm>
          <a:prstGeom prst="ellipse">
            <a:avLst/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g9d6271c2a9_0_0"/>
          <p:cNvCxnSpPr>
            <a:stCxn id="437" idx="0"/>
            <a:endCxn id="425" idx="3"/>
          </p:cNvCxnSpPr>
          <p:nvPr/>
        </p:nvCxnSpPr>
        <p:spPr>
          <a:xfrm rot="10800000" flipH="1">
            <a:off x="5666325" y="4824033"/>
            <a:ext cx="493800" cy="83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0" name="Google Shape;440;g9d6271c2a9_0_0"/>
          <p:cNvCxnSpPr>
            <a:stCxn id="438" idx="0"/>
            <a:endCxn id="425" idx="5"/>
          </p:cNvCxnSpPr>
          <p:nvPr/>
        </p:nvCxnSpPr>
        <p:spPr>
          <a:xfrm rot="10800000">
            <a:off x="6480575" y="4824033"/>
            <a:ext cx="453000" cy="83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1" name="Google Shape;441;g9d6271c2a9_0_0"/>
          <p:cNvSpPr txBox="1">
            <a:spLocks noGrp="1"/>
          </p:cNvSpPr>
          <p:nvPr>
            <p:ph type="body" idx="1"/>
          </p:nvPr>
        </p:nvSpPr>
        <p:spPr>
          <a:xfrm>
            <a:off x="609600" y="1805925"/>
            <a:ext cx="8476500" cy="38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lang="es-ES" sz="1600" dirty="0">
                <a:latin typeface="Courier New"/>
                <a:ea typeface="Courier New"/>
                <a:cs typeface="Courier New"/>
                <a:sym typeface="Courier New"/>
              </a:rPr>
              <a:t>¿Cuál de los dos algoritmos es mejor y por qué?</a:t>
            </a:r>
            <a:endParaRPr sz="12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Font typeface="Courier New"/>
              <a:buChar char="⚫"/>
            </a:pPr>
            <a:r>
              <a:rPr lang="es-ES" sz="10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Dado un valor n, calcular el valor enésimo término de la serie de Fibonacci:</a:t>
            </a:r>
            <a:br>
              <a:rPr lang="es-ES" sz="10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s-ES" sz="1000" b="1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s-ES" sz="1000" b="1" dirty="0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s-ES" sz="1000" b="1" dirty="0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b="1" dirty="0" err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000" b="1" dirty="0" err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fibonacciA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000" b="1" dirty="0" err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 n) {						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s-ES" sz="1000" b="1" dirty="0" err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 (n &lt;= 1) {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s-ES" sz="1000" b="1" dirty="0" err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 n;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s-ES" sz="1000" b="1" dirty="0" err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 ( </a:t>
            </a:r>
            <a:r>
              <a:rPr lang="es-ES" sz="1000" b="1" dirty="0" err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fibonacci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(n-1) + </a:t>
            </a:r>
            <a:r>
              <a:rPr lang="es-ES" sz="1000" b="1" dirty="0" err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fibonacci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(n-2) );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b="1" dirty="0" err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s-ES" sz="1000" b="1" dirty="0" err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fibonacciB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1000" b="1" dirty="0" err="1">
                <a:solidFill>
                  <a:srgbClr val="45818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 n) {						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f[0] = 0;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f[1] = 1;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s-ES" sz="1000" b="1" dirty="0" err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 (i = 2; i &lt;= n; ++i) {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	f[i] = f[i-1] + f[i-2];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s-ES" sz="1000" b="1" dirty="0" err="1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 f[n];</a:t>
            </a:r>
            <a:b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s-ES" sz="1000" dirty="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9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2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s-ES"/>
              <a:t>Fin</a:t>
            </a:r>
            <a:endParaRPr/>
          </a:p>
        </p:txBody>
      </p:sp>
      <p:sp>
        <p:nvSpPr>
          <p:cNvPr id="447" name="Google Shape;447;p42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pPr marL="0" marR="457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s-ES"/>
              <a:t>Dudas, consultas, sugerencias?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ujo">
  <a:themeElements>
    <a:clrScheme name="Flujo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ujo">
  <a:themeElements>
    <a:clrScheme name="Flujo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1348</Words>
  <Application>Microsoft Office PowerPoint</Application>
  <PresentationFormat>Presentación en pantalla (4:3)</PresentationFormat>
  <Paragraphs>107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Constantia</vt:lpstr>
      <vt:lpstr>Noto Sans Symbols</vt:lpstr>
      <vt:lpstr>Courier New</vt:lpstr>
      <vt:lpstr>Calibri</vt:lpstr>
      <vt:lpstr>Arial</vt:lpstr>
      <vt:lpstr>Flujo</vt:lpstr>
      <vt:lpstr>Flujo</vt:lpstr>
      <vt:lpstr>Teoría de Grafos</vt:lpstr>
      <vt:lpstr>Contenido</vt:lpstr>
      <vt:lpstr>¿Qué es un algoritmo?</vt:lpstr>
      <vt:lpstr>¿Mejor algoritmo o peor algoritmo?</vt:lpstr>
      <vt:lpstr>Ejemplo de Ordenamiento</vt:lpstr>
      <vt:lpstr>Orden de Complejidad del Select Sort</vt:lpstr>
      <vt:lpstr>Orden de Complejidad del  Select Sort</vt:lpstr>
      <vt:lpstr>Analizando el “Grado de Complejidad”</vt:lpstr>
      <vt:lpstr>Orden de Complejidad</vt:lpstr>
      <vt:lpstr>BigO Notation</vt:lpstr>
      <vt:lpstr>Ejercicios</vt:lpstr>
      <vt:lpstr>Ejercicios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Damian</dc:creator>
  <cp:lastModifiedBy>Nicolas Perez</cp:lastModifiedBy>
  <cp:revision>1</cp:revision>
  <dcterms:created xsi:type="dcterms:W3CDTF">2012-06-20T12:33:21Z</dcterms:created>
  <dcterms:modified xsi:type="dcterms:W3CDTF">2024-06-09T18:39:01Z</dcterms:modified>
</cp:coreProperties>
</file>